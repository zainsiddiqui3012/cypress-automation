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282" r:id="rId10"/>
    <p:sldId id="297" r:id="rId11"/>
    <p:sldId id="298" r:id="rId12"/>
    <p:sldId id="299" r:id="rId13"/>
    <p:sldId id="300" r:id="rId14"/>
    <p:sldId id="269" r:id="rId15"/>
    <p:sldId id="270" r:id="rId16"/>
    <p:sldId id="288" r:id="rId17"/>
    <p:sldId id="289" r:id="rId18"/>
    <p:sldId id="295" r:id="rId19"/>
    <p:sldId id="296" r:id="rId20"/>
    <p:sldId id="275" r:id="rId21"/>
    <p:sldId id="264" r:id="rId22"/>
  </p:sldIdLst>
  <p:sldSz cx="9144000" cy="5143500" type="screen16x9"/>
  <p:notesSz cx="6858000" cy="9144000"/>
  <p:embeddedFontLst>
    <p:embeddedFont>
      <p:font typeface="Average" panose="020B0604020202020204" charset="0"/>
      <p:regular r:id="rId24"/>
    </p:embeddedFont>
    <p:embeddedFont>
      <p:font typeface="Oswald" panose="00000500000000000000" pitchFamily="2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TNaukri Lahore" initials="IL" lastIdx="1" clrIdx="0">
    <p:extLst>
      <p:ext uri="{19B8F6BF-5375-455C-9EA6-DF929625EA0E}">
        <p15:presenceInfo xmlns:p15="http://schemas.microsoft.com/office/powerpoint/2012/main" userId="173b584c12cd79a8" providerId="Windows Live"/>
      </p:ext>
    </p:extLst>
  </p:cmAuthor>
  <p:cmAuthor id="2" name="Ahmed Hassan" initials="AH" lastIdx="1" clrIdx="1">
    <p:extLst>
      <p:ext uri="{19B8F6BF-5375-455C-9EA6-DF929625EA0E}">
        <p15:presenceInfo xmlns:p15="http://schemas.microsoft.com/office/powerpoint/2012/main" userId="dd8b634ed48cc1f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6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05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64055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2227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42f411c0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442f411c0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0780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46454c3110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46454c3110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0953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imahmedhassan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emo.testfire.net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utorialsninja.com/demo/index.php?route=account/register" TargetMode="External"/><Relationship Id="rId2" Type="http://schemas.openxmlformats.org/officeDocument/2006/relationships/hyperlink" Target="https://demo.testfire.net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pkart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utorialsninja.com/demo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qajobsinlahore@hotmail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imahmedhassan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392191" y="1776223"/>
            <a:ext cx="8751809" cy="12241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-US" dirty="0"/>
              <a:t>Lecture 10</a:t>
            </a:r>
            <a:endParaRPr sz="3300" dirty="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49806" y="3214689"/>
            <a:ext cx="8594194" cy="17287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Instructor: Ahmed Hassan		Course: Security </a:t>
            </a:r>
            <a:r>
              <a:rPr lang="en-US" sz="1800" dirty="0"/>
              <a:t>Testing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Date: 11 August 2024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LinkedIn: </a:t>
            </a:r>
            <a:r>
              <a:rPr lang="en-US" dirty="0">
                <a:hlinkClick r:id="rId3"/>
              </a:rPr>
              <a:t>https://www.linkedin.com/in/imahmedhassan/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A33C67-7D4B-4B57-BDB7-E99DA705F0F4}"/>
              </a:ext>
            </a:extLst>
          </p:cNvPr>
          <p:cNvSpPr/>
          <p:nvPr/>
        </p:nvSpPr>
        <p:spPr>
          <a:xfrm>
            <a:off x="4912241" y="53913"/>
            <a:ext cx="4231759" cy="146770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rgbClr val="7030A0"/>
                </a:solidFill>
              </a:rPr>
              <a:t>QA Jobs in Lahore</a:t>
            </a:r>
          </a:p>
          <a:p>
            <a:r>
              <a:rPr lang="en-US" dirty="0">
                <a:solidFill>
                  <a:srgbClr val="7030A0"/>
                </a:solidFill>
              </a:rPr>
              <a:t>Website</a:t>
            </a:r>
            <a:r>
              <a:rPr lang="en-US" dirty="0"/>
              <a:t>: </a:t>
            </a:r>
            <a:r>
              <a:rPr lang="en-US" u="sng" dirty="0"/>
              <a:t>https://qajobsinlahore.wixsite.com/qajobs</a:t>
            </a:r>
          </a:p>
          <a:p>
            <a:r>
              <a:rPr lang="en-US" dirty="0">
                <a:solidFill>
                  <a:srgbClr val="7030A0"/>
                </a:solidFill>
              </a:rPr>
              <a:t>LinkedIn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Group</a:t>
            </a:r>
            <a:r>
              <a:rPr lang="en-US" dirty="0"/>
              <a:t>: SQA Jobs in Lahore</a:t>
            </a:r>
          </a:p>
          <a:p>
            <a:r>
              <a:rPr lang="en-US" dirty="0">
                <a:solidFill>
                  <a:srgbClr val="7030A0"/>
                </a:solidFill>
              </a:rPr>
              <a:t>LinkedIn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Page</a:t>
            </a:r>
            <a:r>
              <a:rPr lang="en-US" dirty="0"/>
              <a:t>: QA Jobs in Lahore</a:t>
            </a:r>
          </a:p>
          <a:p>
            <a:r>
              <a:rPr lang="en-US" dirty="0">
                <a:solidFill>
                  <a:srgbClr val="7030A0"/>
                </a:solidFill>
              </a:rPr>
              <a:t>Facebook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Page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&amp;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Group</a:t>
            </a:r>
            <a:r>
              <a:rPr lang="en-US" dirty="0"/>
              <a:t>: QAJobsinLahore</a:t>
            </a:r>
          </a:p>
          <a:p>
            <a:r>
              <a:rPr lang="en-US" b="1" dirty="0">
                <a:solidFill>
                  <a:srgbClr val="FF0000"/>
                </a:solidFill>
              </a:rPr>
              <a:t>Email</a:t>
            </a:r>
            <a:r>
              <a:rPr lang="en-US" dirty="0"/>
              <a:t>: qajobsinlahore@hotmail.com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7DBCF-0BF5-431B-9160-2E967D7CA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Authentication vs Authorization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BBA90-F633-4517-8C13-23BD580D6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Authentication is about identifying the User.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 of the company and the employee.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3B771A-0D7A-4796-A8CD-8205BE010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519" y="0"/>
            <a:ext cx="385048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7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7DBCF-0BF5-431B-9160-2E967D7CA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Authentication vs Authorization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BBA90-F633-4517-8C13-23BD580D6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Authentication is about identifying the User.</a:t>
            </a:r>
          </a:p>
          <a:p>
            <a:r>
              <a:rPr lang="en-US" dirty="0"/>
              <a:t>Real website example.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4A7C88-DFE4-45C8-B0E1-B2557A6BC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70" y="1971675"/>
            <a:ext cx="5557836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916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7DBCF-0BF5-431B-9160-2E967D7CA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Authentication vs Authorization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BBA90-F633-4517-8C13-23BD580D6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/>
              <a:t>Authorization is about checking 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tabLst>
                <a:tab pos="457200" algn="l"/>
              </a:tabLst>
            </a:pPr>
            <a:r>
              <a:rPr lang="en-US" dirty="0"/>
              <a:t>whether the User has permissions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tabLst>
                <a:tab pos="457200" algn="l"/>
              </a:tabLst>
            </a:pPr>
            <a:r>
              <a:rPr lang="en-US" dirty="0"/>
              <a:t> to access a resource.</a:t>
            </a:r>
          </a:p>
          <a:p>
            <a:r>
              <a:rPr lang="en-US" dirty="0"/>
              <a:t>Example of the company </a:t>
            </a:r>
          </a:p>
          <a:p>
            <a:pPr marL="114300" indent="0">
              <a:buNone/>
            </a:pPr>
            <a:r>
              <a:rPr lang="en-US" dirty="0"/>
              <a:t>and the employee.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61FC39-E925-43FC-AE2B-2210D233B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077" y="0"/>
            <a:ext cx="445492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908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7DBCF-0BF5-431B-9160-2E967D7CA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Authentication vs Authorization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BBA90-F633-4517-8C13-23BD580D6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/>
              <a:t>Authorization is about checking whether the User has permissions to access a resource.</a:t>
            </a:r>
          </a:p>
          <a:p>
            <a:r>
              <a:rPr lang="en-US" dirty="0"/>
              <a:t>Real website example.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B2C102-0CA4-4699-9303-46B3D4AE0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2143124"/>
            <a:ext cx="5945981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200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B878E-E49B-4E97-B1E0-FD9186433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Security Testing Terminology - DAST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03B57-3A1B-4EB8-9336-E24BF1632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/>
              <a:t>DAST stands for Dynamic Application Security Testing.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/>
              <a:t>A type of black box Security Testing performed on the running Application from its UI.</a:t>
            </a:r>
          </a:p>
          <a:p>
            <a:endParaRPr lang="en-US" dirty="0"/>
          </a:p>
          <a:p>
            <a:r>
              <a:rPr lang="en-US" dirty="0"/>
              <a:t>Example: </a:t>
            </a:r>
            <a:r>
              <a:rPr lang="en-US" dirty="0">
                <a:hlinkClick r:id="rId2"/>
              </a:rPr>
              <a:t>https://demo.testfire.net/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3112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B878E-E49B-4E97-B1E0-FD9186433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Security Testing Terminology - DAST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03B57-3A1B-4EB8-9336-E24BF1632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74F331-7054-409D-A463-CA95E7511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2475"/>
            <a:ext cx="9144000" cy="39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975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7A4C5-E956-41F7-A587-BCB25200C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Input Validation and Output Encoding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891D1-80FE-41F9-903C-C5A38F30AC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/>
              <a:t>Input Validation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/>
              <a:t>Size of Data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/>
              <a:t>Type of Data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/>
              <a:t>Range of Data</a:t>
            </a:r>
          </a:p>
          <a:p>
            <a:endParaRPr lang="en-US" dirty="0"/>
          </a:p>
          <a:p>
            <a:r>
              <a:rPr lang="en-US" dirty="0"/>
              <a:t>Output Encoding is a security technique used in web development to convert potentially harmful characters from user input into a safe format before displaying them on a web page.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https://demo.testfire.net/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>
                <a:hlinkClick r:id="rId3"/>
              </a:rPr>
              <a:t>https://tutorialsninja.com/demo/index.php?route=account/register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8080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EE610-38D8-4D20-BE59-80825C771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Top 40 Security Testing Interviews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494AB-3C90-4B39-BE05-D4AFAFB18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560651"/>
            <a:ext cx="8520600" cy="3582849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sz="6400" dirty="0"/>
              <a:t>Q 1) What is Security Testing?</a:t>
            </a:r>
          </a:p>
          <a:p>
            <a:pPr algn="l"/>
            <a:r>
              <a:rPr lang="en-US" sz="6400" dirty="0"/>
              <a:t>Q 2) What is “Vulnerability”?</a:t>
            </a:r>
          </a:p>
          <a:p>
            <a:pPr algn="l"/>
            <a:r>
              <a:rPr lang="en-US" sz="6400" dirty="0"/>
              <a:t>Q 3) What is “SQL Injection”?</a:t>
            </a:r>
          </a:p>
          <a:p>
            <a:pPr algn="l"/>
            <a:r>
              <a:rPr lang="en-US" sz="6400" dirty="0"/>
              <a:t>Q 4) List the attributes of Security Testing?</a:t>
            </a:r>
          </a:p>
          <a:p>
            <a:pPr algn="l"/>
            <a:r>
              <a:rPr lang="en-US" sz="6400" dirty="0"/>
              <a:t>Q 5) What is “Penetration Testing”?</a:t>
            </a:r>
          </a:p>
          <a:p>
            <a:pPr algn="l"/>
            <a:r>
              <a:rPr lang="en-US" sz="6400" dirty="0"/>
              <a:t>Q 6) Why “Penetration Testing” is important?</a:t>
            </a:r>
          </a:p>
          <a:p>
            <a:pPr algn="l"/>
            <a:r>
              <a:rPr lang="en-US" sz="6400" dirty="0"/>
              <a:t>Q 7) List down some factors that can cause vulnerabilities?</a:t>
            </a:r>
          </a:p>
          <a:p>
            <a:pPr algn="l"/>
            <a:r>
              <a:rPr lang="en-US" sz="6400" dirty="0"/>
              <a:t>Q 8) List the various methodologies in Security testing?</a:t>
            </a:r>
          </a:p>
          <a:p>
            <a:pPr algn="l"/>
            <a:r>
              <a:rPr lang="en-US" sz="6400" dirty="0"/>
              <a:t>Q 9) What is a Cookie?</a:t>
            </a:r>
          </a:p>
          <a:p>
            <a:pPr algn="l"/>
            <a:r>
              <a:rPr lang="en-US" sz="6400" dirty="0"/>
              <a:t>Q 10) What are the types of Cookies?</a:t>
            </a:r>
          </a:p>
          <a:p>
            <a:pPr marL="114300" indent="0">
              <a:buNone/>
            </a:pPr>
            <a:br>
              <a:rPr lang="en-US" sz="8000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114300" indent="0">
              <a:buNone/>
            </a:pPr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270922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EE610-38D8-4D20-BE59-80825C771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Top 40 Security Testing Interviews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494AB-3C90-4B39-BE05-D4AFAFB18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24907"/>
            <a:ext cx="8520600" cy="3582849"/>
          </a:xfrm>
        </p:spPr>
        <p:txBody>
          <a:bodyPr>
            <a:normAutofit fontScale="25000" lnSpcReduction="20000"/>
          </a:bodyPr>
          <a:lstStyle/>
          <a:p>
            <a:r>
              <a:rPr lang="en-US" sz="6200" dirty="0"/>
              <a:t>Q11: Can you explain what is security testing and what is the purpose behind it?</a:t>
            </a:r>
          </a:p>
          <a:p>
            <a:pPr algn="l"/>
            <a:r>
              <a:rPr lang="en-US" sz="6200" dirty="0"/>
              <a:t>Q12: How do you identify potential security vulnerabilities? What are the tools you use?</a:t>
            </a:r>
          </a:p>
          <a:p>
            <a:pPr algn="l"/>
            <a:r>
              <a:rPr lang="en-US" sz="6200" dirty="0"/>
              <a:t>Q13: Can you explain the different types of security testing?</a:t>
            </a:r>
          </a:p>
          <a:p>
            <a:pPr algn="l"/>
            <a:r>
              <a:rPr lang="en-US" sz="6200" dirty="0"/>
              <a:t>Q14: Have you ever found a critical security bug in a production environment? How did you handle it?</a:t>
            </a:r>
          </a:p>
          <a:p>
            <a:pPr algn="l"/>
            <a:r>
              <a:rPr lang="en-US" sz="6200" dirty="0"/>
              <a:t>Q15: Can you explain the difference between penetration testing and vulnerability scanning?</a:t>
            </a:r>
          </a:p>
          <a:p>
            <a:pPr algn="l"/>
            <a:r>
              <a:rPr lang="en-US" sz="6200" dirty="0"/>
              <a:t>Q16: Can you describe how you would approach testing an application for injection vulnerabilities?</a:t>
            </a:r>
          </a:p>
          <a:p>
            <a:r>
              <a:rPr lang="en-US" sz="6200" dirty="0"/>
              <a:t>Q17: What is encryption, and how does it relate to security testing?</a:t>
            </a:r>
          </a:p>
          <a:p>
            <a:pPr algn="l" fontAlgn="base"/>
            <a:r>
              <a:rPr lang="en-US" sz="6200" dirty="0"/>
              <a:t>Q18:What is password tracking, and how can it be prevented?</a:t>
            </a:r>
          </a:p>
          <a:p>
            <a:r>
              <a:rPr lang="en-US" sz="6200" dirty="0"/>
              <a:t>Q19: Why is OWASP being run, and what does it hope to achieve?</a:t>
            </a:r>
          </a:p>
          <a:p>
            <a:r>
              <a:rPr lang="en-US" sz="6200" dirty="0"/>
              <a:t>Q20: As far as information security is concerned, why is web application security so important?</a:t>
            </a: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endParaRPr lang="en-US" sz="2900" dirty="0"/>
          </a:p>
          <a:p>
            <a:pPr marL="114300" indent="0">
              <a:buNone/>
            </a:pPr>
            <a:br>
              <a:rPr lang="en-US" sz="8000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114300" indent="0">
              <a:buNone/>
            </a:pPr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179703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EE610-38D8-4D20-BE59-80825C771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Top 40 Security Testing Interviews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494AB-3C90-4B39-BE05-D4AFAFB18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850" y="1474926"/>
            <a:ext cx="8520600" cy="3582849"/>
          </a:xfrm>
        </p:spPr>
        <p:txBody>
          <a:bodyPr>
            <a:normAutofit fontScale="25000" lnSpcReduction="20000"/>
          </a:bodyPr>
          <a:lstStyle/>
          <a:p>
            <a:r>
              <a:rPr lang="en-US" sz="6400" dirty="0"/>
              <a:t>Q21: Explain the three categories of vulnerabilities and how each affects online applications’ safety.</a:t>
            </a:r>
          </a:p>
          <a:p>
            <a:r>
              <a:rPr lang="en-US" sz="6400" dirty="0"/>
              <a:t>Q22: What is an SSL certificate?</a:t>
            </a:r>
          </a:p>
          <a:p>
            <a:r>
              <a:rPr lang="en-US" sz="6400" dirty="0"/>
              <a:t>Q23: What is Burp Suite?</a:t>
            </a:r>
          </a:p>
          <a:p>
            <a:r>
              <a:rPr lang="en-US" sz="6400" dirty="0"/>
              <a:t>Q24: What are the two versions of Burp Suite?</a:t>
            </a:r>
          </a:p>
          <a:p>
            <a:r>
              <a:rPr lang="en-US" sz="6400" dirty="0"/>
              <a:t>Q25: What is the target section in Burp Suite?</a:t>
            </a:r>
          </a:p>
          <a:p>
            <a:r>
              <a:rPr lang="en-US" sz="6400" dirty="0"/>
              <a:t>Q26: How can users test the vulnerability in Burp Suite?</a:t>
            </a:r>
          </a:p>
          <a:p>
            <a:r>
              <a:rPr lang="en-US" sz="6400" dirty="0"/>
              <a:t>Q27: What is the Comparer in Burp Suite?</a:t>
            </a:r>
          </a:p>
          <a:p>
            <a:r>
              <a:rPr lang="en-US" sz="6400" dirty="0"/>
              <a:t>Q28: What is the proxy tab in Burp Suite and what can users do with it?</a:t>
            </a:r>
          </a:p>
          <a:p>
            <a:r>
              <a:rPr lang="en-US" sz="6400" dirty="0"/>
              <a:t>Q29: What is the purpose of the Burp Suite Intruder?</a:t>
            </a:r>
          </a:p>
          <a:p>
            <a:r>
              <a:rPr lang="en-US" sz="6400" dirty="0"/>
              <a:t>Q30: What are the uses of Burp Suite?</a:t>
            </a: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endParaRPr lang="en-US" sz="2900" dirty="0"/>
          </a:p>
          <a:p>
            <a:pPr marL="114300" indent="0">
              <a:buNone/>
            </a:pPr>
            <a:br>
              <a:rPr lang="en-US" sz="8000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114300" indent="0">
              <a:buNone/>
            </a:pPr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376564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EE610-38D8-4D20-BE59-80825C771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Top 40 Security Testing Interviews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494AB-3C90-4B39-BE05-D4AFAFB18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0263" y="1410632"/>
            <a:ext cx="8520600" cy="3582849"/>
          </a:xfrm>
        </p:spPr>
        <p:txBody>
          <a:bodyPr>
            <a:normAutofit fontScale="25000" lnSpcReduction="20000"/>
          </a:bodyPr>
          <a:lstStyle/>
          <a:p>
            <a:r>
              <a:rPr lang="en-US" sz="6400" dirty="0"/>
              <a:t>Q31: What is the decoder used for?</a:t>
            </a:r>
          </a:p>
          <a:p>
            <a:r>
              <a:rPr lang="en-US" sz="6400" dirty="0"/>
              <a:t>Q32: What is the role of the Sequencer in Burp Suite?</a:t>
            </a:r>
          </a:p>
          <a:p>
            <a:r>
              <a:rPr lang="en-US" sz="6400" dirty="0"/>
              <a:t>Q33: What is the repeater in Burp Suite?</a:t>
            </a:r>
          </a:p>
          <a:p>
            <a:r>
              <a:rPr lang="en-US" sz="6400" dirty="0"/>
              <a:t>Q34: How many types of attack can be performed in burp suite?</a:t>
            </a:r>
          </a:p>
          <a:p>
            <a:r>
              <a:rPr lang="en-US" sz="6400" dirty="0"/>
              <a:t>Q35: What is the purpose of spidering a website?</a:t>
            </a:r>
          </a:p>
          <a:p>
            <a:r>
              <a:rPr lang="en-US" sz="6400" dirty="0"/>
              <a:t>Q36: What is an active scan?</a:t>
            </a:r>
          </a:p>
          <a:p>
            <a:r>
              <a:rPr lang="en-US" sz="6400" dirty="0"/>
              <a:t>Q37: How long does an active scan typically take?</a:t>
            </a:r>
          </a:p>
          <a:p>
            <a:r>
              <a:rPr lang="en-US" sz="6400" dirty="0"/>
              <a:t>Q38: What will the URL show when a user checks if a website is vulnerable?</a:t>
            </a:r>
          </a:p>
          <a:p>
            <a:r>
              <a:rPr lang="en-US" sz="6400" dirty="0"/>
              <a:t>Q39: What is the purpose of the URL?</a:t>
            </a:r>
          </a:p>
          <a:p>
            <a:r>
              <a:rPr lang="en-US" sz="6400" dirty="0"/>
              <a:t>Q40: What is ZAP used for?</a:t>
            </a: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endParaRPr lang="en-US" sz="2900" dirty="0"/>
          </a:p>
          <a:p>
            <a:pPr marL="114300" indent="0">
              <a:buNone/>
            </a:pPr>
            <a:br>
              <a:rPr lang="en-US" sz="8000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114300" indent="0">
              <a:buNone/>
            </a:pPr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815893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EE610-38D8-4D20-BE59-80825C771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694" y="13070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Checklist for Manual Security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494AB-3C90-4B39-BE05-D4AFAFB18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256" y="703400"/>
            <a:ext cx="8520600" cy="4232932"/>
          </a:xfrm>
        </p:spPr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endParaRPr lang="en-US" sz="5600" b="1" u="sng" dirty="0"/>
          </a:p>
          <a:p>
            <a:pPr algn="l"/>
            <a:r>
              <a:rPr lang="en-US" sz="5600" dirty="0"/>
              <a:t>What to Test: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5600" b="1" dirty="0"/>
              <a:t>Authentication</a:t>
            </a:r>
          </a:p>
          <a:p>
            <a:pPr algn="l"/>
            <a:r>
              <a:rPr lang="en-US" sz="5600" dirty="0"/>
              <a:t>Test for weak passwords, account lockout policies, and session management vulnerabilities.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5600" b="1" dirty="0"/>
              <a:t>Authorization</a:t>
            </a:r>
          </a:p>
          <a:p>
            <a:pPr algn="l"/>
            <a:r>
              <a:rPr lang="en-US" sz="5600" dirty="0"/>
              <a:t>Ensure proper access controls are in place and functioning as expected.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5600" b="1" dirty="0"/>
              <a:t>Data Validation</a:t>
            </a:r>
          </a:p>
          <a:p>
            <a:pPr algn="l"/>
            <a:r>
              <a:rPr lang="en-US" sz="5600" dirty="0"/>
              <a:t>Check for vulnerabilities to SQL injection and other injection flaws.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600" b="1" dirty="0"/>
              <a:t>Session Management</a:t>
            </a:r>
          </a:p>
          <a:p>
            <a:r>
              <a:rPr lang="en-US" sz="5600" dirty="0"/>
              <a:t>Test for vulnerabilities in session handling, such as session fixation or hijacking.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600" b="1" dirty="0"/>
              <a:t>File Uploads</a:t>
            </a:r>
          </a:p>
          <a:p>
            <a:r>
              <a:rPr lang="en-US" sz="5600" dirty="0"/>
              <a:t>If applicable, test for security controls around file uploads to prevent malicious file execution.</a:t>
            </a:r>
          </a:p>
          <a:p>
            <a:r>
              <a:rPr lang="en-US" sz="5600" b="1" dirty="0"/>
              <a:t>What Not to Forget: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600" b="1" dirty="0"/>
              <a:t>Test for Known Vulnerabilities</a:t>
            </a:r>
          </a:p>
          <a:p>
            <a:r>
              <a:rPr lang="en-US" sz="5600" dirty="0"/>
              <a:t>Utilize resources like OWASP Top 10 to guide testing efforts towards common web vulnerabilities.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600" b="1" dirty="0"/>
              <a:t>Business Logic Testing</a:t>
            </a:r>
          </a:p>
          <a:p>
            <a:r>
              <a:rPr lang="en-US" sz="5600" dirty="0"/>
              <a:t>Assess the application for logical flaws that could be exploited.</a:t>
            </a:r>
          </a:p>
          <a:p>
            <a:pPr marL="114300" indent="0">
              <a:buNone/>
            </a:pPr>
            <a:br>
              <a:rPr lang="en-US" sz="3200" dirty="0">
                <a:effectLst/>
              </a:rPr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endParaRPr lang="en-US" sz="2900" dirty="0"/>
          </a:p>
          <a:p>
            <a:pPr marL="114300" indent="0">
              <a:buNone/>
            </a:pPr>
            <a:br>
              <a:rPr lang="en-US" sz="8000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114300" indent="0">
              <a:buNone/>
            </a:pPr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575999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298150" y="59830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Assignment # 10</a:t>
            </a:r>
            <a:endParaRPr dirty="0"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414338" y="1378744"/>
            <a:ext cx="8317374" cy="32194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Q1: What is the difference between Authentication and Authorization? Explain in your own words.</a:t>
            </a:r>
          </a:p>
          <a:p>
            <a:r>
              <a:rPr lang="en-US" dirty="0"/>
              <a:t>Q2: Perform DAST on the following website login page. (</a:t>
            </a:r>
            <a:r>
              <a:rPr lang="en-US" dirty="0">
                <a:hlinkClick r:id="rId3"/>
              </a:rPr>
              <a:t>https://www.flipkart.com/</a:t>
            </a:r>
            <a:r>
              <a:rPr lang="en-US" dirty="0"/>
              <a:t>) </a:t>
            </a:r>
          </a:p>
          <a:p>
            <a:r>
              <a:rPr lang="en-US" dirty="0"/>
              <a:t>Q3: Perform Input Validation and Output Encoding on the following website registration page. </a:t>
            </a:r>
          </a:p>
          <a:p>
            <a:pPr marL="114300" indent="0">
              <a:buNone/>
            </a:pPr>
            <a:r>
              <a:rPr lang="en-US" dirty="0"/>
              <a:t>       (</a:t>
            </a:r>
            <a:r>
              <a:rPr lang="en-US" dirty="0">
                <a:hlinkClick r:id="rId4"/>
              </a:rPr>
              <a:t>https://tutorialsninja.com/demo/</a:t>
            </a:r>
            <a:r>
              <a:rPr lang="en-US" dirty="0"/>
              <a:t>) </a:t>
            </a:r>
          </a:p>
          <a:p>
            <a:r>
              <a:rPr lang="en-US" dirty="0"/>
              <a:t>Q4: </a:t>
            </a:r>
            <a:r>
              <a:rPr lang="en-US" sz="1800" dirty="0"/>
              <a:t>Write down the answers of all the most important Security testing questions in your own words which is mentioned in this lecture.</a:t>
            </a:r>
          </a:p>
          <a:p>
            <a:endParaRPr lang="en-US" dirty="0"/>
          </a:p>
          <a:p>
            <a:pPr lvl="1"/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endParaRPr lang="e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114300" y="575950"/>
            <a:ext cx="860755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Assignment # 10</a:t>
            </a:r>
            <a:endParaRPr dirty="0"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200025" y="1211350"/>
            <a:ext cx="8531687" cy="33868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1"/>
            <a:r>
              <a:rPr lang="en-US" dirty="0"/>
              <a:t>Email the assignment at </a:t>
            </a:r>
            <a:r>
              <a:rPr lang="en-US" dirty="0">
                <a:hlinkClick r:id="rId3"/>
              </a:rPr>
              <a:t>qajobsinlahore@hotmail.com</a:t>
            </a:r>
            <a:endParaRPr lang="en-US" dirty="0"/>
          </a:p>
          <a:p>
            <a:pPr lvl="1"/>
            <a:r>
              <a:rPr lang="en-US" dirty="0"/>
              <a:t>Attach the word file which contains all the screen shots and also attach word file of security testing important questions.</a:t>
            </a:r>
          </a:p>
          <a:p>
            <a:pPr lvl="1"/>
            <a:r>
              <a:rPr lang="en-US" dirty="0"/>
              <a:t>Subject name should be “Assignment 10” and also mention your name.</a:t>
            </a:r>
          </a:p>
        </p:txBody>
      </p:sp>
    </p:spTree>
    <p:extLst>
      <p:ext uri="{BB962C8B-B14F-4D97-AF65-F5344CB8AC3E}">
        <p14:creationId xmlns:p14="http://schemas.microsoft.com/office/powerpoint/2010/main" val="4028210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5D652-F649-4CE5-A3E3-261281AE6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Last Date to submit all Assignments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06BC8-FE55-4C88-83AA-74E7DAD35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Date to submit your all assignments is 24 August 2024.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99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0D828-070C-4997-9898-6987EA165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get the Certificate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9C5E4-2E24-4A17-9BFF-4C7578653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Send screen shot of all the assignments which you have submitted. E.g. (10 Assignments).</a:t>
            </a:r>
          </a:p>
          <a:p>
            <a:r>
              <a:rPr lang="en-US" dirty="0"/>
              <a:t>Mention correct spelling of your name in the email.</a:t>
            </a:r>
          </a:p>
          <a:p>
            <a:r>
              <a:rPr lang="en-US" dirty="0"/>
              <a:t>Highlight your achievement on LinkedIn and on CV as well and do mention about me (Ahmed Hassan) and our platform (QA jobs in Lahore) as well.</a:t>
            </a:r>
          </a:p>
          <a:p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LinkedIn: </a:t>
            </a:r>
            <a:r>
              <a:rPr lang="en-US" dirty="0">
                <a:hlinkClick r:id="rId2"/>
              </a:rPr>
              <a:t>https://www.linkedin.com/in/imahmedhassan/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83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5D652-F649-4CE5-A3E3-261281AE6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Information about Previous Courses which QA Jobs in Lahore has covered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06BC8-FE55-4C88-83AA-74E7DAD35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452512"/>
            <a:ext cx="8520600" cy="3416400"/>
          </a:xfrm>
        </p:spPr>
        <p:txBody>
          <a:bodyPr/>
          <a:lstStyle/>
          <a:p>
            <a:r>
              <a:rPr lang="en-US" dirty="0"/>
              <a:t>Manual Testing.</a:t>
            </a:r>
          </a:p>
          <a:p>
            <a:r>
              <a:rPr lang="en-US" dirty="0"/>
              <a:t>Database Testing.</a:t>
            </a:r>
          </a:p>
          <a:p>
            <a:r>
              <a:rPr lang="en-US" dirty="0"/>
              <a:t>API Testing.</a:t>
            </a:r>
          </a:p>
          <a:p>
            <a:r>
              <a:rPr lang="en-US" dirty="0"/>
              <a:t>Performance Testing.</a:t>
            </a:r>
          </a:p>
          <a:p>
            <a:r>
              <a:rPr lang="en-US" dirty="0"/>
              <a:t>Web Automation Testing with java using Selenium.</a:t>
            </a:r>
          </a:p>
          <a:p>
            <a:r>
              <a:rPr lang="en-US" dirty="0"/>
              <a:t>Mobile Automation Testing with java using Appium.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587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5D652-F649-4CE5-A3E3-261281AE6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What’s Next???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06BC8-FE55-4C88-83AA-74E7DAD35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Automation Testing with Python using cypress.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393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70104-B57A-4752-8ADA-569EEC17B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Questions &amp; Answers &amp; Feedback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4039A-73A9-4ACC-8082-402150458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21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889D0-3AEF-4EB8-84D9-1DC893CBF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9F37A-979B-4B46-937E-51AD3936D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43FAC7-42B4-4389-B559-CE43CB868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627007"/>
      </p:ext>
    </p:extLst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1556</TotalTime>
  <Words>1273</Words>
  <Application>Microsoft Office PowerPoint</Application>
  <PresentationFormat>On-screen Show (16:9)</PresentationFormat>
  <Paragraphs>145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Courier New</vt:lpstr>
      <vt:lpstr>Oswald</vt:lpstr>
      <vt:lpstr>Symbol</vt:lpstr>
      <vt:lpstr>Average</vt:lpstr>
      <vt:lpstr>Slate</vt:lpstr>
      <vt:lpstr>Lecture 10</vt:lpstr>
      <vt:lpstr>Authentication vs Authorization</vt:lpstr>
      <vt:lpstr>Authentication vs Authorization</vt:lpstr>
      <vt:lpstr>Authentication vs Authorization</vt:lpstr>
      <vt:lpstr>Authentication vs Authorization</vt:lpstr>
      <vt:lpstr>Security Testing Terminology - DAST</vt:lpstr>
      <vt:lpstr>Security Testing Terminology - DAST</vt:lpstr>
      <vt:lpstr>Input Validation and Output Encoding</vt:lpstr>
      <vt:lpstr>Top 40 Security Testing Interviews Questions</vt:lpstr>
      <vt:lpstr>Top 40 Security Testing Interviews Questions</vt:lpstr>
      <vt:lpstr>Top 40 Security Testing Interviews Questions</vt:lpstr>
      <vt:lpstr>Top 40 Security Testing Interviews Questions</vt:lpstr>
      <vt:lpstr>Checklist for Manual Security Testing</vt:lpstr>
      <vt:lpstr>Assignment # 10</vt:lpstr>
      <vt:lpstr>Assignment # 10</vt:lpstr>
      <vt:lpstr>Last Date to submit all Assignments</vt:lpstr>
      <vt:lpstr>How to get the Certificate</vt:lpstr>
      <vt:lpstr>Information about Previous Courses which QA Jobs in Lahore has covered</vt:lpstr>
      <vt:lpstr>What’s Next???</vt:lpstr>
      <vt:lpstr>Questions &amp; Answers &amp; Feedback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Sparrow</dc:title>
  <cp:lastModifiedBy>Ahmed Hassan</cp:lastModifiedBy>
  <cp:revision>299</cp:revision>
  <dcterms:modified xsi:type="dcterms:W3CDTF">2024-08-11T08:25:13Z</dcterms:modified>
</cp:coreProperties>
</file>